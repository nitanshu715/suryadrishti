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0000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C1-484A-883E-1900CA253A8F}"/>
              </c:ext>
            </c:extLst>
          </c:dPt>
          <c:dPt>
            <c:idx val="1"/>
            <c:invertIfNegative val="0"/>
            <c:bubble3D val="0"/>
            <c:spPr>
              <a:solidFill>
                <a:srgbClr val="6495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C1-484A-883E-1900CA253A8F}"/>
              </c:ext>
            </c:extLst>
          </c:dPt>
          <c:dPt>
            <c:idx val="2"/>
            <c:invertIfNegative val="0"/>
            <c:bubble3D val="0"/>
            <c:spPr>
              <a:solidFill>
                <a:srgbClr val="90EE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C1-484A-883E-1900CA253A8F}"/>
              </c:ext>
            </c:extLst>
          </c:dPt>
          <c:dPt>
            <c:idx val="3"/>
            <c:invertIfNegative val="0"/>
            <c:bubble3D val="0"/>
            <c:spPr>
              <a:solidFill>
                <a:srgbClr val="FF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C1-484A-883E-1900CA253A8F}"/>
              </c:ext>
            </c:extLst>
          </c:dPt>
          <c:dPt>
            <c:idx val="4"/>
            <c:invertIfNegative val="0"/>
            <c:bubble3D val="0"/>
            <c:spPr>
              <a:solidFill>
                <a:srgbClr val="DC14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C1-484A-883E-1900CA253A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Low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0</c:v>
                </c:pt>
                <c:pt idx="2">
                  <c:v>71.400000000000006</c:v>
                </c:pt>
                <c:pt idx="3">
                  <c:v>18.399999999999999</c:v>
                </c:pt>
                <c:pt idx="4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C1-484A-883E-1900CA253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°C</c:v>
                </c:pt>
              </c:strCache>
            </c:strRef>
          </c:tx>
          <c:spPr>
            <a:solidFill>
              <a:srgbClr val="DC14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7E-4410-80DF-77B809EC5516}"/>
              </c:ext>
            </c:extLst>
          </c:dPt>
          <c:dPt>
            <c:idx val="1"/>
            <c:invertIfNegative val="0"/>
            <c:bubble3D val="0"/>
            <c:spPr>
              <a:solidFill>
                <a:srgbClr val="FF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7E-4410-80DF-77B809EC5516}"/>
              </c:ext>
            </c:extLst>
          </c:dPt>
          <c:dPt>
            <c:idx val="2"/>
            <c:invertIfNegative val="0"/>
            <c:bubble3D val="0"/>
            <c:spPr>
              <a:solidFill>
                <a:srgbClr val="90EE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7E-4410-80DF-77B809EC5516}"/>
              </c:ext>
            </c:extLst>
          </c:dPt>
          <c:dPt>
            <c:idx val="3"/>
            <c:invertIfNegative val="0"/>
            <c:bubble3D val="0"/>
            <c:spPr>
              <a:solidFill>
                <a:srgbClr val="006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7E-4410-80DF-77B809EC551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Very Low NDVI
(&lt; Q25)</c:v>
                </c:pt>
                <c:pt idx="1">
                  <c:v>Low NDVI
(Q25–Q50)</c:v>
                </c:pt>
                <c:pt idx="2">
                  <c:v>Moderate
(Q50–Q75)</c:v>
                </c:pt>
                <c:pt idx="3">
                  <c:v>High NDVI
(&gt; Q75)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44.62</c:v>
                </c:pt>
                <c:pt idx="1">
                  <c:v>41.96</c:v>
                </c:pt>
                <c:pt idx="2">
                  <c:v>41.11</c:v>
                </c:pt>
                <c:pt idx="3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7E-4410-80DF-77B809EC55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8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  <c:min val="34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7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3657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9601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9601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9601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9601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544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15544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15544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15544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15544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488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1488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21488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21488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214884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43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2743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2743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743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74320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3375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33375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33375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3375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33756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9319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9319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54480" y="39319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39319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393192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5262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45262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54480" y="45262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4560" y="45262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4526280"/>
            <a:ext cx="73152" cy="7315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474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REMOTE SENSING CENTRE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28600" y="6035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 ·  DEPARTMENT OF SPACE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65760" y="896112"/>
            <a:ext cx="310896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8229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</a:t>
            </a:r>
            <a:endParaRPr lang="en-US" sz="5200" dirty="0"/>
          </a:p>
        </p:txBody>
      </p:sp>
      <p:sp>
        <p:nvSpPr>
          <p:cNvPr id="48" name="Text 46"/>
          <p:cNvSpPr/>
          <p:nvPr/>
        </p:nvSpPr>
        <p:spPr>
          <a:xfrm>
            <a:off x="4114800" y="17190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सूर्यदृष्टि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4114800" y="2423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Urban Heat Island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&amp; Intelligence Platform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114800" y="3401568"/>
            <a:ext cx="4754880" cy="3200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3520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9 OLI/TIRS · April 2025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14800" y="37673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95.99% Accuracy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0" y="40142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surya-drishti.vercel.app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3404" y="318457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10896" y="364177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Nitanshu Tak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</a:p>
          <a:p>
            <a:pPr algn="ctr"/>
            <a:r>
              <a:rPr lang="en-IN" sz="1600" b="1" i="1" dirty="0">
                <a:solidFill>
                  <a:schemeClr val="bg1"/>
                </a:solidFill>
              </a:rPr>
              <a:t>Chandreyee Dey Roy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727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156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156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9156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— Delhi NCT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585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&amp; Methodology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014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014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6014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443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944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Surface Temperature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2872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872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2872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LULC Classification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301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0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Architecture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9730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9730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39730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Results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3159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4315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Risk Zone Mapping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658868"/>
            <a:ext cx="347472" cy="25603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6588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46588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15727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5727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21808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Space Deficit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19156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9156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21808" y="19156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Corridor Recommendations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22585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2585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21808" y="2258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92040" y="26014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6014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21808" y="26014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92040" y="29443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443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21808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92040" y="32872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2872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21808" y="32872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92040" y="36301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630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21808" y="3630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92040" y="39730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9730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21808" y="39730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92040" y="43159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21808" y="4315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92040" y="4658868"/>
            <a:ext cx="34747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46588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21808" y="46588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Urban Heat Island mapping matters for Delhi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2194560" cy="1554480"/>
          </a:xfrm>
          <a:prstGeom prst="rect">
            <a:avLst/>
          </a:prstGeom>
          <a:solidFill>
            <a:srgbClr val="243B55"/>
          </a:solidFill>
          <a:ln w="19050">
            <a:solidFill>
              <a:srgbClr val="E8630A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737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45°C+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surface temperature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April 2025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1572768"/>
            <a:ext cx="6126480" cy="694944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16642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Delhi's built-up area has expanded 340% since 1990, replacing permeable green surfaces with heat-absorbing concrete and asphalt.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0" y="2377440"/>
            <a:ext cx="6126480" cy="694944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2468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Thermal Stress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7066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 of Delhi's spatial extent experiences High to Very High surface temperatures (&gt;42°C), threatening 8+ million residents.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3182112"/>
            <a:ext cx="6126480" cy="694944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32735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3756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Loss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5112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reduction in urban tree canopy eliminates evapotranspirative cooling — the natural air-conditioning mechanism.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3986784"/>
            <a:ext cx="6126480" cy="694944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34640" y="40782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3756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Accessibility Gap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43159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satellite data exists but no accessible, AI-enhanced platform democratises heat risk intelligence for urban planners.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bridges this gap: satellite data → ML intelligence → live public platform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— Delhi NCT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Capital Territory · 1,484 km² · 33.8 Million Population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023360" cy="3246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3774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20040" y="3429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NCT Boundary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7307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28°24′N – 28°53′N  |  76°50′E – 77°21′E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572768"/>
            <a:ext cx="20574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572768"/>
            <a:ext cx="205740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70078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1,484 km²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1579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572768"/>
            <a:ext cx="20574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572768"/>
            <a:ext cx="205740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0078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21579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(2025)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2688336"/>
            <a:ext cx="20574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688336"/>
            <a:ext cx="2057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816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32735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Land Cover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2688336"/>
            <a:ext cx="20574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2688336"/>
            <a:ext cx="2057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8163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95160" y="32735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Cover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803904"/>
            <a:ext cx="20574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803904"/>
            <a:ext cx="20574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Semi-arid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6344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(BSh)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3803904"/>
            <a:ext cx="20574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0" y="3803904"/>
            <a:ext cx="205740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9516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Heat Month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Census of India 2011 (extrapolated) · NRSC Urban Atlas · Landsat 9 LULC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&amp; Methodology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9 OLI/TIRS — April 2025 — USGS Earth Explorer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1298448" cy="1691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66420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🛰️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9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1207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 + TIRS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18488" y="2340864"/>
            <a:ext cx="146304" cy="457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1572768"/>
            <a:ext cx="1298448" cy="1691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166420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10512" y="214884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10512" y="2542032"/>
            <a:ext cx="1207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→ TOA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2340864"/>
            <a:ext cx="146304" cy="457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9544" y="1572768"/>
            <a:ext cx="1298448" cy="1691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9544" y="166420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55264" y="214884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55264" y="2542032"/>
            <a:ext cx="1207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5−4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5+4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07992" y="2340864"/>
            <a:ext cx="146304" cy="457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4296" y="1572768"/>
            <a:ext cx="1298448" cy="1691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54296" y="166420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00016" y="214884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0016" y="2542032"/>
            <a:ext cx="1207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10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Thermal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52744" y="2340864"/>
            <a:ext cx="146304" cy="457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9048" y="1572768"/>
            <a:ext cx="1298448" cy="1691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99048" y="166420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44768" y="214884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44768" y="2542032"/>
            <a:ext cx="1207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97496" y="2340864"/>
            <a:ext cx="146304" cy="457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1572768"/>
            <a:ext cx="1298448" cy="16916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543800" y="166420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589520" y="214884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89520" y="2542032"/>
            <a:ext cx="1207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 pixels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34015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Landsat 9 Bands Used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21608"/>
          <a:ext cx="8503920" cy="1188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Wavelength (µm)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 – 0.673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 Computation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Near-Infrared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 – 0.879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 Computation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IR (TIRS)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 – 11.19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Surface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100→30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Difference Vegetation Index — Quantifying Delhi's Green Cover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850392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824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= ( Band 5 NIR  −  Band 4 Red )  /  ( Band 5 NIR  +  Band 4 Red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411480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32004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Map — Delhi April 2025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Low · Green = High Vegetation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256032" cy="292608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2743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2743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Bodies / Impervious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163824"/>
            <a:ext cx="256032" cy="292608"/>
          </a:xfrm>
          <a:prstGeom prst="rect">
            <a:avLst/>
          </a:prstGeom>
          <a:solidFill>
            <a:srgbClr val="CD853F"/>
          </a:solidFill>
          <a:ln w="12700">
            <a:solidFill>
              <a:srgbClr val="CD85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31638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31638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Ground / Dense Urban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584448"/>
            <a:ext cx="256032" cy="292608"/>
          </a:xfrm>
          <a:prstGeom prst="rect">
            <a:avLst/>
          </a:prstGeom>
          <a:solidFill>
            <a:srgbClr val="9ACD32"/>
          </a:solidFill>
          <a:ln w="12700">
            <a:solidFill>
              <a:srgbClr val="9AC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3584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0.2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35844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Vegetation / Shrub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4005072"/>
            <a:ext cx="256032" cy="292608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4005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– 0.3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4005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Cropland / Grassland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4425696"/>
            <a:ext cx="256032" cy="292608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44256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0" y="44256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Trees / Forest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4846320"/>
            <a:ext cx="420624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48463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NDVI range: 0.000 → 0.393  |  Dominant: Low–Moderate (Urban core)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Surface Temperature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9 Band 10 Thermal Infrared · LST Retrieval · Delhi April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27632"/>
            <a:ext cx="1051560" cy="256032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36°C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54480" y="1627632"/>
            <a:ext cx="1325880" cy="256032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8653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36–39°C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26080" y="1627632"/>
            <a:ext cx="2788920" cy="256032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8653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39–42°C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760720" y="1627632"/>
            <a:ext cx="1783080" cy="25603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86537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42–45°C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589520" y="1627632"/>
            <a:ext cx="1325880" cy="256032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8653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45°C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304288"/>
            <a:ext cx="4572000" cy="25786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6517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320040" y="3977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Heat Island Zones · Delhi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9 TIRS · April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Zone Statistics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715768"/>
            <a:ext cx="777240" cy="274320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715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61888" y="27157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 (&lt;36°C)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3136392"/>
            <a:ext cx="777240" cy="27432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1363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61888" y="31363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(36–39°C)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20640" y="3557016"/>
            <a:ext cx="777240" cy="274320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5570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355701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(39–42°C)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3977640"/>
            <a:ext cx="777240" cy="27432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977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39776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(42–45°C)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20640" y="4398264"/>
            <a:ext cx="777240" cy="274320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43982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61888" y="439826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 (&gt;45°C)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0640" y="4828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25.9% of Delhi (&gt;42°C) = ~384 km² under extreme heat stress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Use / Land Cover Classification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Supervised Classification · 7 Classes · Landsat 9 Multi-spectral Composite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011680" cy="64008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824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" y="21214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239572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~33°C  avg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261518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~3%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96312" y="157276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572768"/>
            <a:ext cx="2011680" cy="64008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6824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9464" y="21214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9464" y="239572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~37.5°C  avg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9464" y="261518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~4%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72584" y="157276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1572768"/>
            <a:ext cx="2011680" cy="64008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16824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45736" y="21214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45736" y="239572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~39.5°C  avg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45736" y="261518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~5%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48856" y="157276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1572768"/>
            <a:ext cx="2011680" cy="6400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16824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22008" y="21214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Cropland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22008" y="239572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~41°C  avg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22008" y="261518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~8%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08152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081528"/>
            <a:ext cx="2011680" cy="64008"/>
          </a:xfrm>
          <a:prstGeom prst="rect">
            <a:avLst/>
          </a:prstGeom>
          <a:solidFill>
            <a:srgbClr val="6B8E23"/>
          </a:solidFill>
          <a:ln w="12700">
            <a:solidFill>
              <a:srgbClr val="6B8E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191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93192" y="363016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3192" y="390448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~42°C  avg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3192" y="412394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~4%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96312" y="308152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96312" y="3081528"/>
            <a:ext cx="2011680" cy="64008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6312" y="3191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569464" y="363016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Area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69464" y="390448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~43.5°C  avg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69464" y="412394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~68%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72584" y="3081528"/>
            <a:ext cx="2011680" cy="137160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72584" y="3081528"/>
            <a:ext cx="2011680" cy="64008"/>
          </a:xfrm>
          <a:prstGeom prst="rect">
            <a:avLst/>
          </a:prstGeom>
          <a:solidFill>
            <a:srgbClr val="DEB887"/>
          </a:solidFill>
          <a:ln w="12700">
            <a:solidFill>
              <a:srgbClr val="DEB8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72584" y="3191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🏜️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745736" y="363016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Ground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45736" y="390448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~44.6°C  avg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45736" y="412394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~8%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areas dominate (~68%) — lowest albedo, highest thermal emission, minimum evapotranspiration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· 1,458,068 Pixels · 3 Input Features · 5 Output Classes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237744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65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249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– 0.393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237744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8620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8895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°C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1455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 – 51.4°C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237744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5818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785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LULC Class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041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2880360"/>
            <a:ext cx="41148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834640"/>
            <a:ext cx="109728" cy="14630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1572768"/>
            <a:ext cx="2651760" cy="2761488"/>
          </a:xfrm>
          <a:prstGeom prst="rect">
            <a:avLst/>
          </a:prstGeom>
          <a:solidFill>
            <a:srgbClr val="0A1628"/>
          </a:solidFill>
          <a:ln w="19050">
            <a:solidFill>
              <a:srgbClr val="E8630A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1691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520440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20440" y="2596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2944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944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3273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273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6160" y="3602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6027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0" y="3931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cv_folds: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931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2880360"/>
            <a:ext cx="41148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572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1901952"/>
            <a:ext cx="214884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0000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1901952"/>
            <a:ext cx="274320" cy="438912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190195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22592" y="192024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2450592"/>
            <a:ext cx="214884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6495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2450592"/>
            <a:ext cx="274320" cy="438912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45059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22592" y="246888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2999232"/>
            <a:ext cx="214884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0" y="2999232"/>
            <a:ext cx="274320" cy="438912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299923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22592" y="30175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675120" y="3547872"/>
            <a:ext cx="214884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0" y="3547872"/>
            <a:ext cx="274320" cy="43891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3547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22592" y="356616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75120" y="4096512"/>
            <a:ext cx="214884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4096512"/>
            <a:ext cx="274320" cy="438912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409651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22592" y="41148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1,458,068 pixels · 80/20 stratified split · Balanced downsampling (50K/class max)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Validation Results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Test Set: 37,920 pixels · 5-fold Cross-Validation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743200" cy="2194560"/>
          </a:xfrm>
          <a:prstGeom prst="rect">
            <a:avLst/>
          </a:prstGeom>
          <a:solidFill>
            <a:srgbClr val="0A1628"/>
          </a:solidFill>
          <a:ln w="19050">
            <a:solidFill>
              <a:srgbClr val="1DB954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7432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1907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95.99%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0040" y="27066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990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37,920 pixels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57276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57276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737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10712" y="232257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0680" y="157276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57276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737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13832" y="232257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Weighted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43800" y="157276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43800" y="1572768"/>
            <a:ext cx="192024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737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616952" y="232257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Mean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46920" y="157276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46920" y="1572768"/>
            <a:ext cx="192024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1737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720072" y="232257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Dev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9136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20240" y="4279392"/>
            <a:ext cx="4520720" cy="2743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279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86680" y="4279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20240" y="4700016"/>
            <a:ext cx="58391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000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LULC Class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49878" y="4700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20240" y="5120640"/>
            <a:ext cx="198352" cy="2743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64312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9136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Coverage</a:t>
            </a:r>
            <a:endParaRPr lang="en-US" sz="120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4892040" y="4224528"/>
          <a:ext cx="3931920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AI-Predicted Heat Risk Zone 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NCT — Random Forest Output — 8.4M Pixel Inference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846320" cy="33101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86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🤖🗺️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3383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Predicted Heat Risk 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6576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data/outputs/heat_risk_figure.png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38862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surya-drishti.vercel.app → AI Prediction tab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95.99%  ·  F1: 0.962  ·  1.4M training pixels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4960" y="15727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Zone Distribution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993392"/>
            <a:ext cx="3429000" cy="530352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1993392"/>
            <a:ext cx="54864" cy="530352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 &lt;36°C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267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39,605 px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94960" y="2615184"/>
            <a:ext cx="3429000" cy="530352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2615184"/>
            <a:ext cx="54864" cy="530352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36–39°C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9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889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px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94960" y="3236976"/>
            <a:ext cx="3429000" cy="530352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3236976"/>
            <a:ext cx="54864" cy="530352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39–42°C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1,041,364 px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94960" y="3858768"/>
            <a:ext cx="3429000" cy="530352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94960" y="3858768"/>
            <a:ext cx="54864" cy="5303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42–45°C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133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268,072 px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94960" y="4480560"/>
            <a:ext cx="3429000" cy="530352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94960" y="4480560"/>
            <a:ext cx="54864" cy="530352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 &gt;45°C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4517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4754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109,027 px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94960" y="5120640"/>
            <a:ext cx="3429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+ Very High = 25.9% of Delhi → 384 km² critical heat zone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NDVI–Temperature Correlation 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Vegetation's Cooling Effect on Delhi's Urban Heat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2860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286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0.05  ✓ Significant)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1572768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by Vegetation Density Quartile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2834640" y="1901952"/>
          <a:ext cx="59893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3218688"/>
            <a:ext cx="2286000" cy="969264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" y="3310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7.1°C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20040" y="37856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differential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vs Highest NDVI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4315968"/>
            <a:ext cx="85039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4074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Interpretation: Pixels with vegetation density in the top quartile are on average 7.1°C cooler than bare/built-up surfaces. This demonstrates the critical urban cooling potential of green infrastructure and directly informs green corridor prioritisation.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Space Deficit 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Identification of Priority Urban Greening Zones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8503920" cy="502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Deficit Zone = NDVI &lt; 25th percentile  AND  LST &gt; 75th percentile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95728"/>
            <a:ext cx="1920240" cy="54864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" y="314553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Coverage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Deficit Zone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39572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2395728"/>
            <a:ext cx="192024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560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km²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496312" y="314553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Area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Greening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239572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2395728"/>
            <a:ext cx="192024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560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25th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99432" y="314553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Threshold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(Vegetation)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395728"/>
            <a:ext cx="192024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2395728"/>
            <a:ext cx="192024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560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75th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02552" y="314553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 Threshold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767328"/>
            <a:ext cx="32004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3840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🌡️🌿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2004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Deficit Map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Overlay: Low NDVI + High LST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49040" y="376732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Intervention Locations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West Delhi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68112" y="41330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Dwarka, Najafgarh — Dense built-up, minimal tree cover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4904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SW Industrial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68112" y="4480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 corridor — Industrial heat sink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49040" y="4828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Central Delhi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68112" y="4828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Connaught Place environs — No green buffer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Corridor Recommendations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Urban Greening Strategy — NRSC/MPD-2041 Aligned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594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1097280" cy="594360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727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609344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Delhi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Dwarka / Najafgarh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719072"/>
            <a:ext cx="274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609344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forest belt along Najafgarh Road; native species plantation clusters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73568" y="1627632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−3–5°C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8503920" cy="594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1097280" cy="59436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02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2276856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Industrial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 Corridor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386584"/>
            <a:ext cx="274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276856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corridors + green buffer zones along Outer Ring Road and NH-48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73568" y="2295144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−2–4°C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8503920" cy="594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07792"/>
            <a:ext cx="1097280" cy="59436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077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2944368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Delhi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Urban 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054096"/>
            <a:ext cx="274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944368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gardens + pocket parks in municipal wards; vertical greening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73568" y="2962656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−1–2°C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575304"/>
            <a:ext cx="8503920" cy="594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75304"/>
            <a:ext cx="1097280" cy="59436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7530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3611880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Delhi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Zones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3721608"/>
            <a:ext cx="274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611880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buffers around industrial cluster perimeters; CPCB compliance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73568" y="3630168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−2–3°C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242816"/>
            <a:ext cx="8503920" cy="594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42816"/>
            <a:ext cx="1097280" cy="5943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4281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08760" y="427939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Yamuna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Floodplain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0" y="4389120"/>
            <a:ext cx="274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4279392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and expand riparian vegetation; wetland restoration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73568" y="4297680"/>
            <a:ext cx="8046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−Baseline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" y="493776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Alignment: Delhi Master Plan 2041 (MPD-2041) · NAPCC Urban Resilience · Smart Cities Mission · NRSC Green Cover Monitoring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Geospatial Intelligence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54864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61288" y="16642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Satellite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19933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9 TIF Rasters (NDVI, LST, UHI, LULC)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15968" y="2011680"/>
            <a:ext cx="54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72768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572768"/>
            <a:ext cx="54864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64208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96128" y="16642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GIS 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19933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preprocess.py: Raster alignment, pixel extraction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88336"/>
            <a:ext cx="54864" cy="9601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9776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61288" y="2779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ML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3108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→ predict.py: RF training + inference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15968" y="3127248"/>
            <a:ext cx="54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688336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88336"/>
            <a:ext cx="54864" cy="9601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79776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96128" y="2779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Analytics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3108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analysis.py: Correlation, LULC stats, green deficit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803904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03904"/>
            <a:ext cx="54864" cy="9601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895344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61288" y="38953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— REST 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61288" y="42245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10 endpoints · Gunicorn · Render (Virginia)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20624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03904"/>
            <a:ext cx="54864" cy="9601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895344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96128" y="38953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— 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96128" y="42245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Chart.js · Leaflet · Vercel Edge CDN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809744"/>
            <a:ext cx="85039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scikit-learn 1.5  ·  NumPy · Pandas · OpenCV · Pillow · Flask · Gunicorn · React 18 · Chart.js  ·  Docker  ·  GitHub Actions  ·  Render  ·  Vercel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10 Endpoints · Render Deployment · suryadrishti-api.onrender.com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8503920" cy="331012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status, model readiness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NDVI-temperature correlation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/api/hotspots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zone pixel counts &amp; coverage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correlation + LULC + deficit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/api/recommendations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corridor interventions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accuracy, F1, CV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/api/map/&lt;layer&gt;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map tiles (uhi/ndvi/prediction)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dashboard data (single request)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/api/predict/pixel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pixel heat risk inference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/api/feature-importance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E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feature importance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992624"/>
            <a:ext cx="8503920" cy="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5001768"/>
            <a:ext cx="8321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https://suryadrishti-api.onrender.com/api/health  →  { "status": "ok", "model_trained": true, "version": "1.0.0" }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Chart.js · Leaflet · surya-drishti.vercel.app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5577840" cy="3401568"/>
          </a:xfrm>
          <a:prstGeom prst="rect">
            <a:avLst/>
          </a:prstGeom>
          <a:solidFill>
            <a:srgbClr val="04081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55778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SuryaDrishti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6276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F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API ONLINE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1005840" cy="502920"/>
          </a:xfrm>
          <a:prstGeom prst="rect">
            <a:avLst/>
          </a:prstGeom>
          <a:solidFill>
            <a:srgbClr val="243B55"/>
          </a:solidFill>
          <a:ln w="10160">
            <a:solidFill>
              <a:srgbClr val="DC1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81328" y="2029968"/>
            <a:ext cx="1005840" cy="502920"/>
          </a:xfrm>
          <a:prstGeom prst="rect">
            <a:avLst/>
          </a:prstGeom>
          <a:solidFill>
            <a:srgbClr val="243B55"/>
          </a:solidFill>
          <a:ln w="10160">
            <a:solidFill>
              <a:srgbClr val="DC1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51176" y="2029968"/>
            <a:ext cx="1005840" cy="502920"/>
          </a:xfrm>
          <a:prstGeom prst="rect">
            <a:avLst/>
          </a:prstGeom>
          <a:solidFill>
            <a:srgbClr val="243B55"/>
          </a:solidFill>
          <a:ln w="10160">
            <a:solidFill>
              <a:srgbClr val="1DB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21024" y="2029968"/>
            <a:ext cx="1005840" cy="502920"/>
          </a:xfrm>
          <a:prstGeom prst="rect">
            <a:avLst/>
          </a:prstGeom>
          <a:solidFill>
            <a:srgbClr val="243B55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2029968"/>
            <a:ext cx="1005840" cy="502920"/>
          </a:xfrm>
          <a:prstGeom prst="rect">
            <a:avLst/>
          </a:prstGeom>
          <a:solidFill>
            <a:srgbClr val="243B55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670048"/>
            <a:ext cx="3657600" cy="2176272"/>
          </a:xfrm>
          <a:prstGeom prst="rect">
            <a:avLst/>
          </a:prstGeom>
          <a:solidFill>
            <a:srgbClr val="06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Zones Map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206240" y="2670048"/>
            <a:ext cx="1600200" cy="1463040"/>
          </a:xfrm>
          <a:prstGeom prst="ellipse">
            <a:avLst/>
          </a:prstGeom>
          <a:solidFill>
            <a:srgbClr val="243B5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0175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Zones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15727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19385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10528" y="19568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Stat Cards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10528" y="21396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KPIs: heat zones, r, deficit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3774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10528" y="23957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0528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 / NDVI / AI prediction layers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80760" y="28163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10528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HeatZoneChart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0528" y="3017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distribution chart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80760" y="32552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10528" y="3273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CorrelationPanel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0528" y="3456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+ LULC heat 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80760" y="36941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10528" y="37124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ModelMetrics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10528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F1 progress bars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80760" y="41330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10528" y="4151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PixelPredictor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10528" y="43342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via /api/predict/pixel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080760" y="45720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10528" y="4590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10528" y="4773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green corridor cards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CI/CD · Render + Vercel · GitHub 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023360" cy="2926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402336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82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6654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64208" y="2066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(PaaS) — Virginia, US East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64208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64208" y="2761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25.1.0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64208" y="3108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512MB RAM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6420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push to main branch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64208" y="3803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suryadrishti-api.onrender.com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572768"/>
            <a:ext cx="4114800" cy="2926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572768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682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FRONTEND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06654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53328" y="20665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Global Edge CDN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41401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53328" y="24140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(Create React App)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7614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53328" y="2761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→ /build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1089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53328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Edge-distributed globally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53328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push to main branch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53328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surya-drishti.vercel.app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645152"/>
            <a:ext cx="850392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70001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→ Actions (lint + test + build) → Render auto-deploy (backend) · Vercel auto-deploy (frontend) — Every commit triggers full pipeline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ISRO/NRSC INTERNSHIP PORTFOLIO  ·  NITANSHU TAK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— Scientific &amp; Technical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20624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72768"/>
            <a:ext cx="475488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664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1664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95.99% Model Accuracy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193852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on 1.4M pixels achieves research-grade performance. F1 Macro = 0.962, CV variance &lt; 0.001.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572768"/>
            <a:ext cx="420624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72768"/>
            <a:ext cx="54864" cy="1005840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72768"/>
            <a:ext cx="475488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664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1808" y="1664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 Critical Heat Zone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21808" y="193852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384 km² of Delhi experiences High to Very High surface temperatures (&gt;42°C) in April — a public health emergency zone.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715768"/>
            <a:ext cx="420624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15768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715768"/>
            <a:ext cx="475488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2807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6968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7.1°C Vegetation Cooling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" y="308152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vegetation (top NDVI quartile) is 7.1°C cooler than bare surfaces — quantifying urban greening's climate mitigation potential.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715768"/>
            <a:ext cx="420624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15768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715768"/>
            <a:ext cx="475488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2807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91456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21808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−0.110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21808" y="308152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negative correlation (p &lt; 0.05) confirms vegetation reduces surface temperature — scientific foundation for green infrastructure.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858768"/>
            <a:ext cx="420624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858768"/>
            <a:ext cx="54864" cy="10058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858768"/>
            <a:ext cx="475488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3950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6968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6.04% Green Deficit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86968" y="422452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km² of Delhi is simultaneously low-vegetation AND high-temperature — priority zones for immediate urban forestry intervention.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858768"/>
            <a:ext cx="420624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858768"/>
            <a:ext cx="54864" cy="10058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858768"/>
            <a:ext cx="475488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9502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91456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21808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 Deployed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21808" y="422452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platform live at surya-drishti.vercel.app — API + dashboard publicly accessible, aligned with NRSC operational workflows.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5029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ISRO / NRSC INTERNSHIP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  ·  सूर्यदृष्टि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66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Urban Heat Island Mapping &amp; Green Space Intelligence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1298448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578608"/>
            <a:ext cx="1298448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95.99%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64792" y="2578608"/>
            <a:ext cx="1298448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64792" y="2578608"/>
            <a:ext cx="1298448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64792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9544" y="2578608"/>
            <a:ext cx="1298448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9544" y="2578608"/>
            <a:ext cx="1298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9544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9544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Pixels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54296" y="2578608"/>
            <a:ext cx="1298448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2578608"/>
            <a:ext cx="1298448" cy="36576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54296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Heat Zone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2578608"/>
            <a:ext cx="1298448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9048" y="2578608"/>
            <a:ext cx="1298448" cy="36576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7.1°C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99048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Cooling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43800" y="2578608"/>
            <a:ext cx="1298448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43800" y="2578608"/>
            <a:ext cx="1298448" cy="36576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6.04%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43800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Deficit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3584448"/>
            <a:ext cx="8503920" cy="89611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3675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github.com/Nitanshu715/SuryaDrishti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3675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surya-drishti.vercel.app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3675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suryadrishti-api.onrender.com/api/health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Nitanshu Tak  ·  B.Tech Cloud Computing &amp; AI  ·  github.com/Nitanshu715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Data: Chandreyee Dey Roy  ·  Data Source: Landsat 9 OLI/TIRS, USGS, April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2411</Words>
  <Application>Microsoft Office PowerPoint</Application>
  <PresentationFormat>On-screen Show (16:9)</PresentationFormat>
  <Paragraphs>601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SuryaDrishti — Urban Heat Island Intelligence Platform</dc:title>
  <dc:subject>PptxGenJS Presentation</dc:subject>
  <dc:creator>Nitanshu Tak</dc:creator>
  <cp:lastModifiedBy>Nitanshu Tak</cp:lastModifiedBy>
  <cp:revision>2</cp:revision>
  <dcterms:created xsi:type="dcterms:W3CDTF">2026-03-16T23:52:55Z</dcterms:created>
  <dcterms:modified xsi:type="dcterms:W3CDTF">2026-03-16T23:57:30Z</dcterms:modified>
</cp:coreProperties>
</file>